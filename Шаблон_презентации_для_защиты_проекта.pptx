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71" r:id="rId10"/>
    <p:sldId id="272" r:id="rId11"/>
    <p:sldId id="273" r:id="rId12"/>
    <p:sldId id="270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1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46CFD-4B99-4E95-9C28-BB18D1883FD7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51805-76F0-4253-81D6-38C5E5E791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279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9AB3A824-1A51-4B26-AD58-A6D8E14F6C04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910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422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E5059C3-6A89-4494-99FF-5A4D6FFD50EB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523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CA954B2F-12DE-47F5-8894-472B206D2E1E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790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F30E46F-7819-4ACF-B48B-48222C2ACC88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1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064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21D9284-D300-4297-87F7-E791DCC15DB1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184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866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B16C4C9A-3960-41CF-A4E9-2A8FB932454B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938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662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3FFE419-2371-464F-8239-3959401C3561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812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91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611808" y="2423159"/>
            <a:ext cx="5518066" cy="1801370"/>
          </a:xfrm>
        </p:spPr>
        <p:txBody>
          <a:bodyPr>
            <a:noAutofit/>
          </a:bodyPr>
          <a:lstStyle/>
          <a:p>
            <a:pPr algn="ctr"/>
            <a:r>
              <a:rPr lang="ru-RU" sz="3000" dirty="0"/>
              <a:t>Разработка информационной системы </a:t>
            </a:r>
            <a:r>
              <a:rPr lang="ru-RU" sz="3000" dirty="0" smtClean="0"/>
              <a:t>«Школа»</a:t>
            </a:r>
            <a:r>
              <a:rPr lang="ru-RU" sz="3000" dirty="0"/>
              <a:t/>
            </a:r>
            <a:br>
              <a:rPr lang="ru-RU" sz="3000" dirty="0"/>
            </a:br>
            <a:endParaRPr lang="ru-RU" sz="3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11808" y="3914706"/>
            <a:ext cx="5357600" cy="1160213"/>
          </a:xfrm>
        </p:spPr>
        <p:txBody>
          <a:bodyPr>
            <a:normAutofit fontScale="85000" lnSpcReduction="20000"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ru-RU" dirty="0" smtClean="0"/>
              <a:t>Проектная работа по дисциплине 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ru-RU" dirty="0" smtClean="0"/>
              <a:t>«Технологии разработки и защиты  баз данных»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ru-RU" dirty="0" smtClean="0"/>
              <a:t>Выполнил: студент Валиев А.И. группа ПР-42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ru-RU" dirty="0" smtClean="0"/>
              <a:t>Руководитель: Овчинникова С.И.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635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/>
              <a:t>Цель проекта </a:t>
            </a:r>
            <a:r>
              <a:rPr lang="ru-RU" dirty="0" smtClean="0">
                <a:solidFill>
                  <a:srgbClr val="FF0000"/>
                </a:solidFill>
              </a:rPr>
              <a:t>(</a:t>
            </a:r>
            <a:r>
              <a:rPr lang="ru-RU" i="1" dirty="0" smtClean="0">
                <a:solidFill>
                  <a:srgbClr val="FF0000"/>
                </a:solidFill>
              </a:rPr>
              <a:t>должна быть одна)</a:t>
            </a:r>
            <a:endParaRPr lang="ru-RU" i="1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Разработать информационную систему «Школа» для автоматизации учета учебного процесса, включающую управление классами, учениками, учителями, предметами, расписанием и оценками, с реализацией ролевой модели доступа и механизмов защиты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439910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/>
              <a:t>Задачи проекта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4567793" y="1606767"/>
            <a:ext cx="7796540" cy="4266864"/>
          </a:xfrm>
        </p:spPr>
        <p:txBody>
          <a:bodyPr>
            <a:normAutofit/>
          </a:bodyPr>
          <a:lstStyle/>
          <a:p>
            <a:endParaRPr lang="ru-RU" sz="1400" dirty="0" smtClean="0"/>
          </a:p>
          <a:p>
            <a:r>
              <a:rPr lang="ru-RU" sz="1600" b="1" dirty="0"/>
              <a:t>1 этап: Проектирование концептуальной модели данных</a:t>
            </a:r>
          </a:p>
          <a:p>
            <a:r>
              <a:rPr lang="ru-RU" sz="1600" dirty="0"/>
              <a:t>Анализ предметной области общеобразовательной школы</a:t>
            </a:r>
          </a:p>
          <a:p>
            <a:r>
              <a:rPr lang="ru-RU" sz="1600" dirty="0"/>
              <a:t>Определение основных сущностей и связей между ними</a:t>
            </a:r>
          </a:p>
          <a:p>
            <a:r>
              <a:rPr lang="ru-RU" sz="1600" dirty="0"/>
              <a:t>Выявление информационных потребностей пользователей (администратор, завуч, учитель)</a:t>
            </a:r>
          </a:p>
          <a:p>
            <a:r>
              <a:rPr lang="ru-RU" sz="1600" dirty="0"/>
              <a:t>Построение </a:t>
            </a:r>
            <a:r>
              <a:rPr lang="ru-RU" sz="1600" dirty="0" smtClean="0"/>
              <a:t>ER-диаграммы</a:t>
            </a:r>
          </a:p>
          <a:p>
            <a:endParaRPr lang="ru-RU" sz="1600" dirty="0" smtClean="0"/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847480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/>
              <a:t>Задачи проекта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4551167" y="1590142"/>
            <a:ext cx="7796540" cy="4266864"/>
          </a:xfrm>
        </p:spPr>
        <p:txBody>
          <a:bodyPr>
            <a:normAutofit/>
          </a:bodyPr>
          <a:lstStyle/>
          <a:p>
            <a:endParaRPr lang="ru-RU" sz="1400" dirty="0" smtClean="0"/>
          </a:p>
          <a:p>
            <a:r>
              <a:rPr lang="ru-RU" sz="1600" b="1" dirty="0"/>
              <a:t>2 этап: Проектирование логической модели данных</a:t>
            </a:r>
          </a:p>
          <a:p>
            <a:r>
              <a:rPr lang="ru-RU" sz="1600" dirty="0"/>
              <a:t>Построение логической модели в соответствии с реляционной моделью данных</a:t>
            </a:r>
          </a:p>
          <a:p>
            <a:r>
              <a:rPr lang="ru-RU" sz="1600" dirty="0"/>
              <a:t>Нормализация таблиц до 3НФ</a:t>
            </a:r>
          </a:p>
          <a:p>
            <a:r>
              <a:rPr lang="ru-RU" sz="1600" dirty="0"/>
              <a:t>Определение первичных и внешних ключей</a:t>
            </a:r>
          </a:p>
          <a:p>
            <a:r>
              <a:rPr lang="ru-RU" sz="1600" dirty="0"/>
              <a:t>Реализация ограничений целостности данных</a:t>
            </a:r>
          </a:p>
          <a:p>
            <a:r>
              <a:rPr lang="ru-RU" sz="1600" dirty="0"/>
              <a:t>Уточнение </a:t>
            </a:r>
            <a:r>
              <a:rPr lang="ru-RU" sz="1600" dirty="0" smtClean="0"/>
              <a:t>ER-диаграммы</a:t>
            </a:r>
          </a:p>
          <a:p>
            <a:endParaRPr lang="ru-RU" sz="1600" dirty="0" smtClean="0"/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203456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/>
              <a:t>Задачи проекта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4542855" y="1444714"/>
            <a:ext cx="7796540" cy="4266864"/>
          </a:xfrm>
        </p:spPr>
        <p:txBody>
          <a:bodyPr>
            <a:normAutofit/>
          </a:bodyPr>
          <a:lstStyle/>
          <a:p>
            <a:endParaRPr lang="ru-RU" sz="1400" dirty="0" smtClean="0"/>
          </a:p>
          <a:p>
            <a:r>
              <a:rPr lang="ru-RU" sz="1600" b="1" dirty="0"/>
              <a:t>3 этап: Проектирование физической модели данных</a:t>
            </a:r>
          </a:p>
          <a:p>
            <a:r>
              <a:rPr lang="ru-RU" sz="1600" dirty="0"/>
              <a:t>Реализация базы данных в СУБД </a:t>
            </a:r>
            <a:r>
              <a:rPr lang="ru-RU" sz="1600" dirty="0" err="1"/>
              <a:t>SQLite</a:t>
            </a:r>
            <a:endParaRPr lang="ru-RU" sz="1600" dirty="0"/>
          </a:p>
          <a:p>
            <a:r>
              <a:rPr lang="ru-RU" sz="1600" dirty="0"/>
              <a:t>Создание таблиц с первичными и внешними ключами</a:t>
            </a:r>
          </a:p>
          <a:p>
            <a:r>
              <a:rPr lang="ru-RU" sz="1600" dirty="0"/>
              <a:t>Реализация ограничений CHECK, UNIQUE и CASCADE</a:t>
            </a:r>
          </a:p>
          <a:p>
            <a:r>
              <a:rPr lang="ru-RU" sz="1600" dirty="0"/>
              <a:t>Создание триггеров для обеспечения бизнес-логики</a:t>
            </a:r>
          </a:p>
          <a:p>
            <a:r>
              <a:rPr lang="ru-RU" sz="1600" dirty="0"/>
              <a:t>Разработка WPF-приложения для работы с базой </a:t>
            </a:r>
            <a:r>
              <a:rPr lang="ru-RU" sz="1600" dirty="0" smtClean="0"/>
              <a:t>данных</a:t>
            </a:r>
          </a:p>
          <a:p>
            <a:endParaRPr lang="ru-RU" sz="1600" dirty="0" smtClean="0"/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069381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/>
              <a:t>Список сущностей</a:t>
            </a:r>
            <a:endParaRPr lang="ru-RU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Пользователи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Роли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Учителя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Классы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Ученики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Предметы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Оценки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Расписание</a:t>
            </a:r>
          </a:p>
        </p:txBody>
      </p:sp>
    </p:spTree>
    <p:extLst>
      <p:ext uri="{BB962C8B-B14F-4D97-AF65-F5344CB8AC3E}">
        <p14:creationId xmlns:p14="http://schemas.microsoft.com/office/powerpoint/2010/main" val="1385003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ER-</a:t>
            </a:r>
            <a:r>
              <a:rPr lang="ru-RU" dirty="0" smtClean="0"/>
              <a:t>диаграмма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447" y="1210134"/>
            <a:ext cx="5799513" cy="403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93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Схема данных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5399" y="803275"/>
            <a:ext cx="5227140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03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Выбор СУБД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4763193" y="1179738"/>
            <a:ext cx="5104013" cy="4828850"/>
          </a:xfrm>
        </p:spPr>
        <p:txBody>
          <a:bodyPr/>
          <a:lstStyle/>
          <a:p>
            <a:r>
              <a:rPr lang="ru-RU" dirty="0"/>
              <a:t>Преимущества </a:t>
            </a:r>
            <a:r>
              <a:rPr lang="en-US" dirty="0"/>
              <a:t>SQLite</a:t>
            </a:r>
            <a:r>
              <a:rPr lang="ru-RU" dirty="0"/>
              <a:t>:</a:t>
            </a:r>
          </a:p>
          <a:p>
            <a:r>
              <a:rPr lang="ru-RU" sz="1050" dirty="0"/>
              <a:t>Отсутствие серверной части — не требуется установка и настройка отдельного сервера базы данных</a:t>
            </a:r>
          </a:p>
          <a:p>
            <a:r>
              <a:rPr lang="ru-RU" sz="1050" dirty="0"/>
              <a:t>Простота развертывания — база хранится в одном файле, легко переносится между </a:t>
            </a:r>
            <a:r>
              <a:rPr lang="ru-RU" sz="1050" dirty="0" smtClean="0"/>
              <a:t>устройствами</a:t>
            </a:r>
          </a:p>
          <a:p>
            <a:r>
              <a:rPr lang="ru-RU" sz="1050" b="1" dirty="0"/>
              <a:t>Высокая скорость работы</a:t>
            </a:r>
            <a:r>
              <a:rPr lang="ru-RU" sz="1050" dirty="0"/>
              <a:t> при использовании в настольных </a:t>
            </a:r>
            <a:r>
              <a:rPr lang="ru-RU" sz="1050" dirty="0" smtClean="0"/>
              <a:t>приложениях</a:t>
            </a:r>
          </a:p>
          <a:p>
            <a:r>
              <a:rPr lang="ru-RU" sz="1050" b="1" dirty="0"/>
              <a:t>Высокая скорость работы</a:t>
            </a:r>
            <a:r>
              <a:rPr lang="ru-RU" sz="1050" dirty="0"/>
              <a:t> при использовании в настольных </a:t>
            </a:r>
            <a:r>
              <a:rPr lang="ru-RU" sz="1050" dirty="0" smtClean="0"/>
              <a:t>приложениях</a:t>
            </a:r>
          </a:p>
          <a:p>
            <a:r>
              <a:rPr lang="ru-RU" sz="1050" dirty="0"/>
              <a:t>Поддержка транзакций, внешних ключей и </a:t>
            </a:r>
            <a:r>
              <a:rPr lang="ru-RU" sz="1050" dirty="0" smtClean="0"/>
              <a:t>триггеров</a:t>
            </a:r>
          </a:p>
          <a:p>
            <a:r>
              <a:rPr lang="ru-RU" sz="1050" dirty="0"/>
              <a:t>Подходит для учебных и малых </a:t>
            </a:r>
            <a:r>
              <a:rPr lang="ru-RU" sz="1050" dirty="0" smtClean="0"/>
              <a:t>проектов</a:t>
            </a:r>
          </a:p>
          <a:p>
            <a:r>
              <a:rPr lang="ru-RU" sz="1050" b="1" dirty="0"/>
              <a:t>Надежность и стабильность</a:t>
            </a:r>
            <a:r>
              <a:rPr lang="ru-RU" sz="1050" dirty="0"/>
              <a:t> — широко используется в реальных приложениях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4660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Выбор СУБД</a:t>
            </a:r>
            <a:endParaRPr lang="ru-RU" dirty="0"/>
          </a:p>
        </p:txBody>
      </p:sp>
      <p:sp>
        <p:nvSpPr>
          <p:cNvPr id="10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5125306" y="2736829"/>
            <a:ext cx="6186162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Отсутствие клиент-серверной архитектуры</a:t>
            </a: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— ограничены возможности одновременной работы большого числа пользователей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Ограниченная масштабируемость</a:t>
            </a: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— подходит для малых и средних проектов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Меньшие возможности безопасности</a:t>
            </a: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по сравнению с серверными СУБД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Ограниченный набор инструментов администрирования</a:t>
            </a:r>
            <a:endParaRPr kumimoji="0" lang="ru-RU" altLang="ru-RU" sz="105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Не предназначена для высоконагруженных корпоративных систем</a:t>
            </a:r>
            <a:endParaRPr kumimoji="0" lang="ru-RU" altLang="ru-RU" sz="105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125306" y="1994583"/>
            <a:ext cx="38298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>
                <a:solidFill>
                  <a:srgbClr val="FF0000"/>
                </a:solidFill>
              </a:rPr>
              <a:t>Недостатки </a:t>
            </a:r>
            <a:r>
              <a:rPr lang="en-US" sz="3200" dirty="0">
                <a:solidFill>
                  <a:srgbClr val="FF0000"/>
                </a:solidFill>
              </a:rPr>
              <a:t>SQLite</a:t>
            </a:r>
            <a:endParaRPr lang="ru-RU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600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/>
              <a:t>Защита базы данных</a:t>
            </a:r>
            <a:endParaRPr lang="ru-RU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478867" y="1553553"/>
            <a:ext cx="4921540" cy="1592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ТЕХНИЧЕСКИЕ МЕРЫ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Ролевая модель доступа (Администратор, Завуч, Учитель, Секретарь)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Ограничение прав на уровне приложения и базы данных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Проверка соответствия «Учитель – Предмет» через триггеры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Контроль диапазона оценок (1–5) через ограничения CHECK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Хранение паролей в зашифрованном виде (</a:t>
            </a:r>
            <a:r>
              <a:rPr kumimoji="0" lang="ru-RU" altLang="ru-RU" sz="105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хэширование</a:t>
            </a: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ru-RU" altLang="ru-RU" sz="105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salt</a:t>
            </a: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Ограничение доступа к функционалу в зависимости от роли пользователя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Использование внешних ключей для обеспечения целостности данных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5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546600" y="3463241"/>
            <a:ext cx="431438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🏫 ОРГАНИЗАЦИОННЫЕ МЕРОПРИЯТИЯ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Разграничение доступа сотрудников к системе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Назначение ответственного за ведение базы данных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Регулярное резервное копирование файла базы данных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Контроль корректности внесения оценок и данных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Обновление программного обеспечения при необходимости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930275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546600" y="4960255"/>
            <a:ext cx="7719753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📊 МОНИТОРИНГ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Логирование</a:t>
            </a: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действий пользователей (добавление и изменение оценок)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Контроль доступа к учетным записям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Проверка корректности связей между таблицами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Формирование отчетов об успеваемости и активности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540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Инструменты разработки</a:t>
            </a:r>
            <a:endParaRPr lang="ru-RU" dirty="0"/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644" y="209882"/>
            <a:ext cx="5172825" cy="285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312" y="3520628"/>
            <a:ext cx="4583488" cy="2578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162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Инструменты разработки</a:t>
            </a:r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880" y="803275"/>
            <a:ext cx="4219827" cy="2382838"/>
          </a:xfrm>
        </p:spPr>
      </p:pic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427" y="3671888"/>
            <a:ext cx="3967558" cy="2384425"/>
          </a:xfrm>
        </p:spPr>
      </p:pic>
    </p:spTree>
    <p:extLst>
      <p:ext uri="{BB962C8B-B14F-4D97-AF65-F5344CB8AC3E}">
        <p14:creationId xmlns:p14="http://schemas.microsoft.com/office/powerpoint/2010/main" val="1754723119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TM16401371[[fn=Атлас]]</Template>
  <TotalTime>889</TotalTime>
  <Words>439</Words>
  <Application>Microsoft Office PowerPoint</Application>
  <PresentationFormat>Широкоэкранный</PresentationFormat>
  <Paragraphs>79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Rockwell</vt:lpstr>
      <vt:lpstr>Wingdings</vt:lpstr>
      <vt:lpstr>Atlas</vt:lpstr>
      <vt:lpstr>Разработка информационной системы «Школа» </vt:lpstr>
      <vt:lpstr>Цель проекта (должна быть одна)</vt:lpstr>
      <vt:lpstr>Задачи проекта</vt:lpstr>
      <vt:lpstr>Задачи проекта</vt:lpstr>
      <vt:lpstr>Задачи проекта</vt:lpstr>
      <vt:lpstr>Список сущностей</vt:lpstr>
      <vt:lpstr>ER-диаграмма</vt:lpstr>
      <vt:lpstr>Схема данных</vt:lpstr>
      <vt:lpstr>Выбор СУБД</vt:lpstr>
      <vt:lpstr>Выбор СУБД</vt:lpstr>
      <vt:lpstr>Защита базы данных</vt:lpstr>
      <vt:lpstr>Инструменты разработки</vt:lpstr>
      <vt:lpstr>Инструменты разработки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информационной системы для агрохолдинга «Зеленая долина» </dc:title>
  <dc:creator>322-P</dc:creator>
  <cp:lastModifiedBy>Айнур Валиев</cp:lastModifiedBy>
  <cp:revision>50</cp:revision>
  <dcterms:created xsi:type="dcterms:W3CDTF">2025-12-08T06:43:29Z</dcterms:created>
  <dcterms:modified xsi:type="dcterms:W3CDTF">2026-02-20T08:11:09Z</dcterms:modified>
</cp:coreProperties>
</file>